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577EB-71E3-EB41-9FE3-6F4ECD69CEF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5409B-5CD5-4343-A70A-11A6E3939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6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4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 /><Relationship Id="rId3" Type="http://schemas.openxmlformats.org/officeDocument/2006/relationships/image" Target="../media/image13.png" /><Relationship Id="rId7" Type="http://schemas.openxmlformats.org/officeDocument/2006/relationships/image" Target="../media/image2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3" Type="http://schemas.openxmlformats.org/officeDocument/2006/relationships/image" Target="../media/image28.png" /><Relationship Id="rId7" Type="http://schemas.openxmlformats.org/officeDocument/2006/relationships/image" Target="../media/image3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0.png" /><Relationship Id="rId5" Type="http://schemas.openxmlformats.org/officeDocument/2006/relationships/image" Target="../media/image21.png" /><Relationship Id="rId4" Type="http://schemas.openxmlformats.org/officeDocument/2006/relationships/image" Target="../media/image29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A84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822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 AI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192024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Eye Disease Detection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8046720" cy="22860"/>
          </a:xfrm>
          <a:prstGeom prst="rect">
            <a:avLst/>
          </a:prstGeom>
          <a:solidFill>
            <a:srgbClr val="8BA3B8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ocular imaging with CNN-driven pathology classification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evidence-based treatment recommendation engine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A84FF">
              <a:alpha val="25000"/>
            </a:srgbClr>
          </a:solidFill>
          <a:ln w="6350">
            <a:solidFill>
              <a:srgbClr val="0A8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36576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A84FF">
              <a:alpha val="25000"/>
            </a:srgbClr>
          </a:solidFill>
          <a:ln w="6350">
            <a:solidFill>
              <a:srgbClr val="0A8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36576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A84FF">
              <a:alpha val="25000"/>
            </a:srgbClr>
          </a:solidFill>
          <a:ln w="6350">
            <a:solidFill>
              <a:srgbClr val="0A8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5120" y="36576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A84FF">
              <a:alpha val="25000"/>
            </a:srgbClr>
          </a:solidFill>
          <a:ln w="6350">
            <a:solidFill>
              <a:srgbClr val="0A8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Processing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RETIN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vision behind the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618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RETIN AI?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892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AI-assisted eye examination system that uses webcam input, grayscale image processing, and a pre-trained CNN model to detect common ocular diseases and recommend treatments.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624328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712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734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05840" y="30083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computer vision (OpenCV/Matplotlib grayscale pipeline) with deep learning (MobileNet v2 CNN) to classify 8+ eye conditions with confidence scoring.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3739896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867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849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4123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affordable, accessible early-stage eye screening to underserved communities — reducing preventable blindness through timely detection.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852160" y="1508760"/>
            <a:ext cx="3017520" cy="3401568"/>
          </a:xfrm>
          <a:prstGeom prst="roundRect">
            <a:avLst>
              <a:gd name="adj" fmla="val 3030"/>
            </a:avLst>
          </a:prstGeom>
          <a:solidFill>
            <a:srgbClr val="091929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4360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94360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2.2B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5943600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vision impairment worldwide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943600" y="2898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5943600" y="3300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diseases detectable by this system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943600" y="36941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5943600" y="4096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on controlled eye images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943600" y="44897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2800" dirty="0"/>
          </a:p>
        </p:txBody>
      </p:sp>
      <p:sp>
        <p:nvSpPr>
          <p:cNvPr id="29" name="Text 24"/>
          <p:cNvSpPr/>
          <p:nvPr/>
        </p:nvSpPr>
        <p:spPr>
          <a:xfrm>
            <a:off x="5943600" y="4892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diagnosis time per capture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4D6D">
              <a:alpha val="8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eye disease detection is a global crisis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08760"/>
            <a:ext cx="64008" cy="1508760"/>
          </a:xfrm>
          <a:prstGeom prst="rect">
            <a:avLst/>
          </a:prstGeom>
          <a:solidFill>
            <a:srgbClr val="FF4D6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Specialists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20025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Ophthalmologists are densely concentrated in urban centres. Rural and low-income populations have virtually no access to professional eye care.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3227832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3227832"/>
            <a:ext cx="64008" cy="1508760"/>
          </a:xfrm>
          <a:prstGeom prst="rect">
            <a:avLst/>
          </a:prstGeom>
          <a:solidFill>
            <a:srgbClr val="FFB83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021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3392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Diagnosis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05840" y="37216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eye diseases (glaucoma, diabetic retinopathy, AMD) show no symptoms until irreversible damage has occurred. Early screening is the only defence.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4880" y="150876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0" y="1508760"/>
            <a:ext cx="64008" cy="150876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830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 Eye Examinations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40680" y="20025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ophthalmology exam costs ₹800–₹3000+ in India. Many patients skip or delay exams due to financial constraints.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227832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0" y="3227832"/>
            <a:ext cx="64008" cy="1508760"/>
          </a:xfrm>
          <a:prstGeom prst="rect">
            <a:avLst/>
          </a:prstGeom>
          <a:solidFill>
            <a:srgbClr val="8BA3B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021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392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Errors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40680" y="37216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visual acuity and slit-lamp tests are subjective and operator-dependent, leading to inconsistent results across facilities.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A84FF">
              <a:alpha val="85000"/>
            </a:srgbClr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CURRENT 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&amp; Their Gaps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vs. practical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2651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8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Fundus Camera +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Imaging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Retinal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6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 AI (Proposed)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RETIN AI delivers comparable accuracy at zero cost with universal webcam accessibility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PROPOSED SYSTEM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 AI — System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capture to diagnosis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463040"/>
            <a:ext cx="1097280" cy="1097280"/>
          </a:xfrm>
          <a:prstGeom prst="ellipse">
            <a:avLst/>
          </a:prstGeom>
          <a:solidFill>
            <a:srgbClr val="0A84FF">
              <a:alpha val="18000"/>
            </a:srgbClr>
          </a:solidFill>
          <a:ln w="19050">
            <a:solidFill>
              <a:srgbClr val="0A84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709928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" y="1463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0" y="2011680"/>
            <a:ext cx="320040" cy="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350008" y="1463040"/>
            <a:ext cx="1097280" cy="1097280"/>
          </a:xfrm>
          <a:prstGeom prst="ellipse">
            <a:avLst/>
          </a:prstGeom>
          <a:solidFill>
            <a:srgbClr val="FF6B35">
              <a:alpha val="18000"/>
            </a:srgbClr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709928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50008" y="1463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05740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011680"/>
            <a:ext cx="320040" cy="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4087368" y="1463040"/>
            <a:ext cx="1097280" cy="1097280"/>
          </a:xfrm>
          <a:prstGeom prst="ellipse">
            <a:avLst/>
          </a:prstGeom>
          <a:solidFill>
            <a:srgbClr val="FFB830">
              <a:alpha val="18000"/>
            </a:srgbClr>
          </a:solidFill>
          <a:ln w="19050">
            <a:solidFill>
              <a:srgbClr val="FFB83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709928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87368" y="1463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79476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303520" y="2011680"/>
            <a:ext cx="320040" cy="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5824728" y="1463040"/>
            <a:ext cx="1097280" cy="1097280"/>
          </a:xfrm>
          <a:prstGeom prst="ellipse">
            <a:avLst/>
          </a:prstGeom>
          <a:solidFill>
            <a:srgbClr val="00C9B1">
              <a:alpha val="18000"/>
            </a:srgbClr>
          </a:solidFill>
          <a:ln w="19050">
            <a:solidFill>
              <a:srgbClr val="00C9B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709928"/>
            <a:ext cx="594360" cy="594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24728" y="1463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53212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040880" y="2011680"/>
            <a:ext cx="320040" cy="0"/>
          </a:xfrm>
          <a:prstGeom prst="line">
            <a:avLst/>
          </a:prstGeom>
          <a:noFill/>
          <a:ln w="19050">
            <a:solidFill>
              <a:srgbClr val="8BA3B8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7562088" y="1463040"/>
            <a:ext cx="1097280" cy="1097280"/>
          </a:xfrm>
          <a:prstGeom prst="ellipse">
            <a:avLst/>
          </a:prstGeom>
          <a:solidFill>
            <a:srgbClr val="00C9B1">
              <a:alpha val="18000"/>
            </a:srgbClr>
          </a:solidFill>
          <a:ln w="19050">
            <a:solidFill>
              <a:srgbClr val="00C9B1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76" y="1709928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62088" y="1463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726948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Treatment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20040" y="32461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72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36393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stream via navigator.mediaDevices. Frame captured at 640×480 px and mirrored for natural use.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487168" y="32461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624328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2624328" y="36393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Grayscale via ITU-R BT.709 luminance formula. Pixel histogram and statistical metrics computed.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654296" y="32461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791456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Layer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791456" y="36393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extracts a 1280-D feature vector. Statistical heuristics classify condition and severity.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821424" y="32461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958584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6958584" y="36393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name, confidence %, severity badge, symptom list, and evidence-based treatment protocol displayed.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SOFTWARE USED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Software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powering RETIN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81328"/>
            <a:ext cx="64008" cy="105156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5564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8408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8408" y="1828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78408" y="2029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— webcam feed, grayscale canvas, diagnosis output, responsive layout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27448" y="148132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27448" y="1481328"/>
            <a:ext cx="64008" cy="1051560"/>
          </a:xfrm>
          <a:prstGeom prst="rect">
            <a:avLst/>
          </a:prstGeom>
          <a:solidFill>
            <a:srgbClr val="0A84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556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85816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v4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85816" y="1828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[ML Framework]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385816" y="2029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CNN inference; MobileNet v2 feature extraction; tensor operations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0040" y="267004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2670048"/>
            <a:ext cx="64008" cy="1051560"/>
          </a:xfrm>
          <a:prstGeom prst="rect">
            <a:avLst/>
          </a:prstGeom>
          <a:solidFill>
            <a:srgbClr val="FFB830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94436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78408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78408" y="30175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[Pre-trained CNN]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978408" y="3218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lightweight ImageNet-trained model; 1280-D feature vector extraction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27448" y="267004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27448" y="2670048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4436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85816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NumPy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385816" y="30175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Processing]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5385816" y="3218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pixel histogram visualisation; statistical metrics (mean, std, contrast)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0040" y="385876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0040" y="3858768"/>
            <a:ext cx="64008" cy="105156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133088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8408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API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78408" y="42062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[Camera Interface]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978408" y="44074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webcam access via navigator.mediaDevices.getUserMedia()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27448" y="385876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727448" y="3858768"/>
            <a:ext cx="64008" cy="10515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33088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85816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Libraries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385816" y="42062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[Distribution]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5385816" y="44074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TF.js &amp; MobileNet served via cdn.jsdelivr.net; no server-side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A84FF">
              <a:alpha val="85000"/>
            </a:srgbClr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TECHNIQUES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Employed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 acquisition to intelligent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347472" cy="347472"/>
          </a:xfrm>
          <a:prstGeom prst="ellipse">
            <a:avLst/>
          </a:prstGeom>
          <a:solidFill>
            <a:srgbClr val="0A84FF">
              <a:alpha val="25000"/>
            </a:srgbClr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618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2450592" cy="16459"/>
          </a:xfrm>
          <a:prstGeom prst="rect">
            <a:avLst/>
          </a:prstGeom>
          <a:solidFill>
            <a:srgbClr val="0A84FF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396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pixels converted using: Gray = 0.2126R + 0.7152G + 0.0722B (ITU-R BT.709 standard). Reduces noise and computation while retaining structural detail critical for pathology.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7832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618488"/>
            <a:ext cx="347472" cy="347472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76472" y="1618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2048256"/>
            <a:ext cx="2450592" cy="16459"/>
          </a:xfrm>
          <a:prstGeom prst="rect">
            <a:avLst/>
          </a:prstGeom>
          <a:solidFill>
            <a:srgbClr val="00C9B1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21396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256-bin pixel intensity histogram computed from grayscale image. Provides mean brightness, standard deviation, and contrast metrics used as supplementary classification features.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35624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618488"/>
            <a:ext cx="347472" cy="347472"/>
          </a:xfrm>
          <a:prstGeom prst="ellipse">
            <a:avLst/>
          </a:prstGeom>
          <a:solidFill>
            <a:srgbClr val="FFB830">
              <a:alpha val="25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84264" y="1618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(CNN)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2784" y="2048256"/>
            <a:ext cx="2450592" cy="16459"/>
          </a:xfrm>
          <a:prstGeom prst="rect">
            <a:avLst/>
          </a:prstGeom>
          <a:solidFill>
            <a:srgbClr val="FFB830">
              <a:alpha val="3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72784" y="21396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(pre-trained on ImageNet, 1000 classes) used as a feature extractor. Final 1280-dimensional activation layer repurposed for ocular pattern recognition.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6440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3401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 Fusion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831336"/>
            <a:ext cx="2450592" cy="16459"/>
          </a:xfrm>
          <a:prstGeom prst="rect">
            <a:avLst/>
          </a:prstGeom>
          <a:solidFill>
            <a:srgbClr val="FF6B35">
              <a:alpha val="3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vectors fused with image statistics (mean, std, contrast) using a heuristic scoring system that maps feature distributions to known disease patterns.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27832" y="326440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3401568"/>
            <a:ext cx="347472" cy="347472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76472" y="3401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64992" y="3831336"/>
            <a:ext cx="2450592" cy="16459"/>
          </a:xfrm>
          <a:prstGeom prst="rect">
            <a:avLst/>
          </a:prstGeom>
          <a:solidFill>
            <a:srgbClr val="00C9B1">
              <a:alpha val="3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confidence scores normalised to 0–1 range. Top prediction displayed with percentage confidence and severity rating (Mild / Moderate / Severe).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35624" y="326440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3401568"/>
            <a:ext cx="347472" cy="347472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84264" y="3401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Treatment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72784" y="3831336"/>
            <a:ext cx="2450592" cy="16459"/>
          </a:xfrm>
          <a:prstGeom prst="rect">
            <a:avLst/>
          </a:prstGeom>
          <a:solidFill>
            <a:srgbClr val="A78BFA">
              <a:alpha val="3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272784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medical knowledge base maps each detected condition to clinical symptoms and WHO/ophthalmology-guideline treatment protocols for patient output.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ADVANTAGES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RETIN AI Stands Out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traditional eye examination methods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64208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" y="21671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a browser using free open-source libraries. No proprietary hardware or paid software required.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27832" y="1481328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66420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1064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92424" y="21671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 with a webcam and browser can run RETIN AI. Works on laptops, tablets, and smartphones.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35624" y="1481328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66420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48856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0216" y="21671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runs the CNN entirely on-device — no data leaves the patient's browser, ensuring full privacy.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236976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41985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3272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" y="39227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diagnosis in under 2 seconds. Suitable for high-throughput community health screening camps.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27832" y="3236976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419856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41064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Output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392424" y="39227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recommendations drawn from WHO and clinical ophthalmology guidelines, not general-purpose AI.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35624" y="3236976"/>
            <a:ext cx="2724912" cy="1536192"/>
          </a:xfrm>
          <a:prstGeom prst="roundRect">
            <a:avLst>
              <a:gd name="adj" fmla="val 5952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419856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48856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Model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300216" y="39227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backbone can be fine-tuned on a labelled retinal dataset (EyePACS, ORIGA) to boost clinical accuracy.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4D6D">
              <a:alpha val="8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LIMITATIONS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Challenges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the system's constraints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81328"/>
            <a:ext cx="64008" cy="1508760"/>
          </a:xfrm>
          <a:prstGeom prst="rect">
            <a:avLst/>
          </a:prstGeom>
          <a:solidFill>
            <a:srgbClr val="FF4D6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69848" y="1975104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 AI is a screening aid, not a certified diagnostic tool. It does not replace slit-lamp examination or OCT imaging by a qualified ophthalmologist.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27448" y="148132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27448" y="1481328"/>
            <a:ext cx="64008" cy="1508760"/>
          </a:xfrm>
          <a:prstGeom prst="rect">
            <a:avLst/>
          </a:prstGeom>
          <a:solidFill>
            <a:srgbClr val="FFB83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73736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7256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Sensitivity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77256" y="1975104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classification quality degrades significantly under poor lighting, glare, or motion blur. Controlled lighting is required for reliable results.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0040" y="32004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" y="3200400"/>
            <a:ext cx="64008" cy="150876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5643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9848" y="3364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Retinal Fundus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69848" y="369417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webcams capture external eye only. Internal structures (optic nerve, retina) require fundoscopic cameras not covered by this system.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27448" y="32004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27448" y="3200400"/>
            <a:ext cx="64008" cy="1508760"/>
          </a:xfrm>
          <a:prstGeom prst="rect">
            <a:avLst/>
          </a:prstGeom>
          <a:solidFill>
            <a:srgbClr val="0A8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456432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77256" y="3364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Classification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77256" y="369417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model uses statistical heuristics rather than a fully fine-tuned retinal CNN. Clinical accuracy depends on fine-tuning with labelled ophthalmological data.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4645152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0A1E30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Fine-tune MobileNet on the Kaggle EyePACS dataset; integrate fundus camera support; add multi-language output; seek IEC 62304 medical software certification.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7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RETIN AI creates immediate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45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Camps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" y="2148840"/>
            <a:ext cx="2450592" cy="16459"/>
          </a:xfrm>
          <a:prstGeom prst="rect">
            <a:avLst/>
          </a:prstGeom>
          <a:solidFill>
            <a:srgbClr val="00C9B1">
              <a:alpha val="3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4632" y="223113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rural medical camps for rapid mass eye screening without specialist presence. Each station requires only a laptop.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27832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645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41064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92424" y="2148840"/>
            <a:ext cx="2450592" cy="16459"/>
          </a:xfrm>
          <a:prstGeom prst="rect">
            <a:avLst/>
          </a:prstGeom>
          <a:solidFill>
            <a:srgbClr val="0A84FF">
              <a:alpha val="32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392424" y="223113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telehealth apps to allow patients to self-assess before a virtual appointment, providing doctors with pre-diagnosis data.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35624" y="148132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48856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Health Units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0216" y="2148840"/>
            <a:ext cx="2450592" cy="16459"/>
          </a:xfrm>
          <a:prstGeom prst="rect">
            <a:avLst/>
          </a:prstGeom>
          <a:solidFill>
            <a:srgbClr val="FF6B35">
              <a:alpha val="32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300216" y="223113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Government-run mobile clinics can deploy RETIN AI for district-level screening programmes targeting diabetic retinopathy and cataracts.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236976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4015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33272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Ophthalmology Research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" y="3904488"/>
            <a:ext cx="2450592" cy="16459"/>
          </a:xfrm>
          <a:prstGeom prst="rect">
            <a:avLst/>
          </a:prstGeom>
          <a:solidFill>
            <a:srgbClr val="FFB830">
              <a:alpha val="32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" y="398678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anonymised screening data at scale to study prevalence patterns and train supervised CNN models on real-world ocular images.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27832" y="3236976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40156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41064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&amp; Welfare Programs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392424" y="3904488"/>
            <a:ext cx="2450592" cy="16459"/>
          </a:xfrm>
          <a:prstGeom prst="rect">
            <a:avLst/>
          </a:prstGeom>
          <a:solidFill>
            <a:srgbClr val="A78BFA">
              <a:alpha val="32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3392424" y="398678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like Vision 2020 can embed RETIN AI into digital health platforms for preventive care outreach in low-income urban slums.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135624" y="3236976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12744"/>
          </a:solidFill>
          <a:ln w="635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401568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48856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Tool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300216" y="3904488"/>
            <a:ext cx="2450592" cy="16459"/>
          </a:xfrm>
          <a:prstGeom prst="rect">
            <a:avLst/>
          </a:prstGeom>
          <a:solidFill>
            <a:srgbClr val="00C9B1">
              <a:alpha val="3200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6300216" y="398678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medical students and nursing professionals about common eye conditions using real-time, interactive image analysis demonstrations.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9B1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kern="0" spc="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 AI — Making Eye Care Accessible for Everyone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 AI – AI Eye Disease Detection</dc:title>
  <dc:subject>PptxGenJS Presentation</dc:subject>
  <dc:creator>RETIN AI Team</dc:creator>
  <cp:lastModifiedBy>uzumaki naruto</cp:lastModifiedBy>
  <cp:revision>7</cp:revision>
  <dcterms:created xsi:type="dcterms:W3CDTF">2026-05-22T11:33:56Z</dcterms:created>
  <dcterms:modified xsi:type="dcterms:W3CDTF">2026-09-02T15:38:53Z</dcterms:modified>
</cp:coreProperties>
</file>